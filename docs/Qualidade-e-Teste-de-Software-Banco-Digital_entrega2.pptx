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7" r:id="rId6"/>
    <p:sldId id="268" r:id="rId7"/>
    <p:sldId id="260" r:id="rId8"/>
    <p:sldId id="266" r:id="rId9"/>
    <p:sldId id="261" r:id="rId10"/>
    <p:sldId id="262" r:id="rId11"/>
    <p:sldId id="263" r:id="rId12"/>
    <p:sldId id="270" r:id="rId13"/>
    <p:sldId id="269" r:id="rId14"/>
    <p:sldId id="272" r:id="rId15"/>
    <p:sldId id="271" r:id="rId16"/>
    <p:sldId id="265" r:id="rId17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9"/>
      <p:bold r:id="rId20"/>
      <p:italic r:id="rId21"/>
      <p:boldItalic r:id="rId22"/>
    </p:embeddedFont>
    <p:embeddedFont>
      <p:font typeface="Corben" panose="020B0604020202020204" charset="0"/>
      <p:regular r:id="rId23"/>
    </p:embeddedFont>
    <p:embeddedFont>
      <p:font typeface="Nobile" panose="020B0604020202020204" charset="0"/>
      <p:regular r:id="rId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514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8657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76972-D4E3-4840-E27B-26EEABED8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E8B69E-6E39-2F21-B25B-E74F57725B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AEF146-6699-9E25-011D-CBF180D1AF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D3B705-ECC9-F6E5-9693-EC1869AD42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9108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368B4-8717-2C0E-3485-C55A6FC9F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376A47-057C-7ED8-D14D-E25750A09C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99567B-7F62-7481-2DCC-78B38A48D5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2B4886-C0AF-813D-6227-9F58041361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4867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05FCE-C2FC-2F8B-5324-C24213DA2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D5F7D1-B692-6DC9-3722-61ACBE1A46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26AE2D-21C8-F7B5-EEBE-818F5A2CBD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B49A44-C024-FB70-0D43-2417DE8052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4852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22F35-04B7-CD97-AE4E-53C692918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53BD47-A5E2-4CF7-A6C5-FB44B1216B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9503F9-9B9A-FBD8-2D14-C6D17A191F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864ADB-AD15-5EE1-B13C-25C110DA99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5795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8847C-8D1F-68B6-411D-B1AF15ED4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2B31B8-AFAC-A962-2579-B869413079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16580D-5A25-AD91-393A-9070337CBC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B4A8A9-E898-F016-4995-43FB0D6BD1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9666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BE62E-8412-3245-B9D2-1E4AE1005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7CB1CA-C967-442D-855F-07BD6D111D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4957DA-3181-F07B-3D6A-6B26F24BF9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C9A8D3-767D-DCBB-7671-236D8AE2A5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1784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D2D9F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6987" y="368424"/>
            <a:ext cx="3304952" cy="44066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701552"/>
            <a:ext cx="4722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Qualidade e Teste de Software: Banco Digital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96119" y="2662684"/>
            <a:ext cx="4722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Aplicação prática de testes funcionais, estruturais e avaliação ISO/IEC 25010 em um sistema bancário digital desenvolvido para fins acadêmicos.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496119" y="3203897"/>
            <a:ext cx="1528837" cy="233214"/>
          </a:xfrm>
          <a:prstGeom prst="roundRect">
            <a:avLst>
              <a:gd name="adj" fmla="val 17872"/>
            </a:avLst>
          </a:prstGeom>
          <a:solidFill>
            <a:srgbClr val="D2D9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570533" y="3241104"/>
            <a:ext cx="1837209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ENGENHARIA DE SOFTWARE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2086942" y="3199135"/>
            <a:ext cx="1464022" cy="242739"/>
          </a:xfrm>
          <a:prstGeom prst="roundRect">
            <a:avLst>
              <a:gd name="adj" fmla="val 17171"/>
            </a:avLst>
          </a:prstGeom>
          <a:noFill/>
          <a:ln w="4763">
            <a:solidFill>
              <a:srgbClr val="4967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2166119" y="3241104"/>
            <a:ext cx="1762869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4967E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QUALIDADE DE SOFTWARE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3612952" y="3199135"/>
            <a:ext cx="517103" cy="242739"/>
          </a:xfrm>
          <a:prstGeom prst="roundRect">
            <a:avLst>
              <a:gd name="adj" fmla="val 17171"/>
            </a:avLst>
          </a:prstGeom>
          <a:noFill/>
          <a:ln w="4763">
            <a:solidFill>
              <a:srgbClr val="4967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3692128" y="3241104"/>
            <a:ext cx="815950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4967E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TESTES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93502"/>
            <a:ext cx="35583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O Escopo do Projeto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06822" y="1567086"/>
            <a:ext cx="4103191" cy="2582838"/>
          </a:xfrm>
          <a:prstGeom prst="roundRect">
            <a:avLst>
              <a:gd name="adj" fmla="val 3458"/>
            </a:avLst>
          </a:prstGeom>
          <a:solidFill>
            <a:srgbClr val="4967E9">
              <a:alpha val="9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30796" y="1691060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Objetivo Acadêmico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796" y="2008882"/>
            <a:ext cx="3855244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Aplicar na prática as metodologias de teste e qualidade de software exigidas pela disciplina, construindo uma pirâmide de testes sólida — Unidade, Integração e Sistema E2E — em vez de focar em uma interface complexa.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728046" y="1691060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O Sistema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28046" y="2008882"/>
            <a:ext cx="3924598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Uma aplicação web simplificada de Banco Digital com os seguintes módulos funcionais: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728046" y="2517428"/>
            <a:ext cx="3924598" cy="6821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Cadastro e Autenticação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Transferência entre contas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Saque e Investimento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728046" y="3323555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Stack Tecnológico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28046" y="3641378"/>
            <a:ext cx="3924598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Java 17 · Spring Boot · Mockito · JaCoCo · PIT (Pitest) · Selenium WebDriver · PostgreSQL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83506"/>
            <a:ext cx="5045794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Testes Funcionais — Caixa Preta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419076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Casos de teste derivados diretamente dos requisitos e regras de negócio, </a:t>
            </a:r>
            <a:r>
              <a:rPr lang="en-US" sz="9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sem análise do código-fonte</a:t>
            </a: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 Três técnicas foram aplicadas de forma prática e documentada.</a:t>
            </a:r>
            <a:endParaRPr lang="en-US" sz="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955527"/>
            <a:ext cx="2634555" cy="240446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20379" y="2037159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1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34380" y="2465859"/>
            <a:ext cx="213828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Análise de Valor Limite (AVL)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34380" y="2734121"/>
            <a:ext cx="2358033" cy="1293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Arquivo:</a:t>
            </a: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</a:t>
            </a:r>
            <a:r>
              <a:rPr lang="en-US" sz="95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AccountServiceTest.java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Testes </a:t>
            </a:r>
            <a:r>
              <a:rPr lang="en-US" sz="95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withdrawAboveLimit</a:t>
            </a: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e </a:t>
            </a:r>
            <a:r>
              <a:rPr lang="en-US" sz="95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withdrawAtExactLimit</a:t>
            </a: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validam a trava de saques acima de R$ 10.000,00, cobrindo os valores exatos na fronteira da regra de negócio.</a:t>
            </a:r>
            <a:endParaRPr lang="en-US" sz="9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54648" y="1955527"/>
            <a:ext cx="2634630" cy="240446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478908" y="2037159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2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3392909" y="2465859"/>
            <a:ext cx="2358107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Particionamento de Equivalência (PE)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392909" y="2927970"/>
            <a:ext cx="2358107" cy="1293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Arquivo:</a:t>
            </a: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</a:t>
            </a:r>
            <a:r>
              <a:rPr lang="en-US" sz="95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SignupServiceTest.java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Testes como </a:t>
            </a:r>
            <a:r>
              <a:rPr lang="en-US" sz="95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invalidEmailFormat</a:t>
            </a: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e </a:t>
            </a:r>
            <a:r>
              <a:rPr lang="en-US" sz="95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shortPassword</a:t>
            </a: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agrupam entradas inválidas em classes de equivalência, reduzindo a quantidade de casos sem perder cobertura.</a:t>
            </a:r>
            <a:endParaRPr lang="en-US" sz="9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13252" y="1955527"/>
            <a:ext cx="2634555" cy="240446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237512" y="2037159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3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6151513" y="2465859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Tabela de Decisão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6151513" y="2734121"/>
            <a:ext cx="2358033" cy="1284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Arquivo:</a:t>
            </a: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</a:t>
            </a:r>
            <a:r>
              <a:rPr lang="en-US" sz="95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AccountServiceTest.java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 teste </a:t>
            </a:r>
            <a:r>
              <a:rPr lang="en-US" sz="95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transferToSameAccount</a:t>
            </a: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mapeia o cruzamento de regras de negócio para o cenário de transferência entre contas iguais, cobrindo combinações complexas de condições.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79215"/>
            <a:ext cx="5349701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Testes Estruturais — Caixa Branca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676772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O Conceito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96119" y="1994595"/>
            <a:ext cx="3924598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Inspeção direta do </a:t>
            </a:r>
            <a:r>
              <a:rPr lang="en-US" sz="9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Grafo de Fluxo de Controle (CFG)</a:t>
            </a: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do código. A métrica utilizada foi o critério </a:t>
            </a:r>
            <a:r>
              <a:rPr lang="en-US" sz="9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"Todas-Arestas" (Branch Coverage)</a:t>
            </a: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medida pela ferramenta </a:t>
            </a:r>
            <a:r>
              <a:rPr lang="en-US" sz="9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JaCoCo</a:t>
            </a: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96119" y="2713955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Exemplo Prático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96119" y="3031778"/>
            <a:ext cx="3924598" cy="1020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 arquivo </a:t>
            </a:r>
            <a:r>
              <a:rPr lang="en-US" sz="95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AccountServiceTransferTest.java</a:t>
            </a: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o teste </a:t>
            </a:r>
            <a:r>
              <a:rPr lang="en-US" sz="95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transferEnforcesLockOrderToPreventDeadlock</a:t>
            </a: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garante que o código percorreu os dois caminhos de um </a:t>
            </a:r>
            <a:r>
              <a:rPr lang="en-US" sz="95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responsável por ordenar os IDs das contas na transferência, cobrindo as ramificações de segurança contra </a:t>
            </a:r>
            <a:r>
              <a:rPr lang="en-US" sz="950" i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deadlock</a:t>
            </a: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638749" y="1552798"/>
            <a:ext cx="4103191" cy="2611487"/>
          </a:xfrm>
          <a:prstGeom prst="roundRect">
            <a:avLst>
              <a:gd name="adj" fmla="val 3420"/>
            </a:avLst>
          </a:prstGeom>
          <a:solidFill>
            <a:srgbClr val="4967E9">
              <a:alpha val="9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762723" y="1676772"/>
            <a:ext cx="222535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Resultados de Cobertura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62723" y="2010147"/>
            <a:ext cx="1865635" cy="981745"/>
          </a:xfrm>
          <a:prstGeom prst="roundRect">
            <a:avLst>
              <a:gd name="adj" fmla="val 5307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891460" y="2138883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86%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91460" y="2456706"/>
            <a:ext cx="160816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Cobertura global de arestas no projeto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752332" y="2010147"/>
            <a:ext cx="1865635" cy="981745"/>
          </a:xfrm>
          <a:prstGeom prst="roundRect">
            <a:avLst>
              <a:gd name="adj" fmla="val 5307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881068" y="2138883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96%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81068" y="2456706"/>
            <a:ext cx="1608162" cy="406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Cobertura na classe de validação </a:t>
            </a:r>
            <a:r>
              <a:rPr lang="en-US" sz="950" dirty="0">
                <a:solidFill>
                  <a:srgbClr val="000000"/>
                </a:solidFill>
                <a:highlight>
                  <a:srgbClr val="5674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Money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73527-2FAE-0F24-388D-902231148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m 15">
            <a:extLst>
              <a:ext uri="{FF2B5EF4-FFF2-40B4-BE49-F238E27FC236}">
                <a16:creationId xmlns:a16="http://schemas.microsoft.com/office/drawing/2014/main" id="{465B31E8-40D1-0ACA-E4FA-E812F4554F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2314575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A149E995-8168-F716-F43C-BFAF56E2F6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158133"/>
            <a:ext cx="9144000" cy="2985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6400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927CA52-3093-B099-F71E-498D9D7AF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8102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3F040E41-B3CA-9AAF-C0BA-80653EFDC3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1296"/>
            <a:ext cx="9144000" cy="3092054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947971F8-7CB9-57E7-CB0B-E1D2F1FCDB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904703"/>
            <a:ext cx="9144000" cy="1238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0967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03858"/>
            <a:ext cx="6134398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Testes Baseados em Defeitos — Mutação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739429"/>
            <a:ext cx="8151763" cy="406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 ferramenta </a:t>
            </a:r>
            <a:r>
              <a:rPr lang="en-US" sz="9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PIT (Pitest)</a:t>
            </a: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injeta "mutantes" — falhas propositais como trocar </a:t>
            </a:r>
            <a:r>
              <a:rPr lang="en-US" sz="95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por </a:t>
            </a:r>
            <a:r>
              <a:rPr lang="en-US" sz="95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no código para medir a qualidade real dos testes. Se o teste passa com o código quebrado, ele é fraco.</a:t>
            </a:r>
            <a:endParaRPr lang="en-US" sz="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285405"/>
            <a:ext cx="310083" cy="31008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2750493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 Dinâmica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96119" y="3018755"/>
            <a:ext cx="2613868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 objetivo é que os testes </a:t>
            </a:r>
            <a:r>
              <a:rPr lang="en-US" sz="9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falhem</a:t>
            </a: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e "matem" o mutante. Testes que passam com código mutado revelam asserções fracas que a cobertura de linhas sozinha não detecta.</a:t>
            </a:r>
            <a:endParaRPr lang="en-US" sz="9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4991" y="2285405"/>
            <a:ext cx="310083" cy="31008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64991" y="2750493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Exemplo Prático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3264991" y="3018755"/>
            <a:ext cx="2613943" cy="1020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Testes com verificação forte de comportamento usando </a:t>
            </a:r>
            <a:r>
              <a:rPr lang="en-US" sz="95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Mockito</a:t>
            </a: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(</a:t>
            </a:r>
            <a:r>
              <a:rPr lang="en-US" sz="95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verify</a:t>
            </a: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e </a:t>
            </a:r>
            <a:r>
              <a:rPr lang="en-US" sz="95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InOrder</a:t>
            </a: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), garantindo que se o PIT remover a chamada </a:t>
            </a:r>
            <a:r>
              <a:rPr lang="en-US" sz="95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accountRepository.credit()</a:t>
            </a: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o teste falhará.</a:t>
            </a:r>
            <a:endParaRPr lang="en-US" sz="9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33939" y="2285405"/>
            <a:ext cx="310083" cy="31008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33939" y="2750493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Resultados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6033939" y="3018755"/>
            <a:ext cx="2613943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83%</a:t>
            </a: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de Escore de Mutação no projeto. Destaque para </a:t>
            </a:r>
            <a:r>
              <a:rPr lang="en-US" sz="9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96%</a:t>
            </a: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no domínio de Transferências e </a:t>
            </a:r>
            <a:r>
              <a:rPr lang="en-US" sz="9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100%</a:t>
            </a: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no de Formatação Financeira.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9B3E2-E8B2-47CD-936E-10A1FB098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m 15">
            <a:extLst>
              <a:ext uri="{FF2B5EF4-FFF2-40B4-BE49-F238E27FC236}">
                <a16:creationId xmlns:a16="http://schemas.microsoft.com/office/drawing/2014/main" id="{D324D5C8-06F3-11C6-26B8-C60E41CE4D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42864"/>
            <a:ext cx="9144000" cy="5186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4792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74452"/>
            <a:ext cx="6647706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Testes de Integração — Banco de Dados Real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672010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O Conceito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96119" y="1989832"/>
            <a:ext cx="4347270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Validar a persistência de dados e as restrições SQL que os </a:t>
            </a:r>
            <a:r>
              <a:rPr lang="en-US" sz="9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Mocks não conseguem simular</a:t>
            </a: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 Utilizamos </a:t>
            </a:r>
            <a:r>
              <a:rPr lang="en-US" sz="9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MockMvc</a:t>
            </a: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para realizar chamadas que batem num container real do PostgreSQL.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96119" y="2709193"/>
            <a:ext cx="344403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Exemplo Prático — Rollback Transacional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96119" y="3027015"/>
            <a:ext cx="4347270" cy="10304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 arquivo </a:t>
            </a:r>
            <a:r>
              <a:rPr lang="en-US" sz="95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TransferIntegrationTest.java</a:t>
            </a: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o teste </a:t>
            </a:r>
            <a:r>
              <a:rPr lang="en-US" sz="95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transferEndpointRejectsInsufficientBalanceAndRollbacks</a:t>
            </a: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executa queries </a:t>
            </a:r>
            <a:r>
              <a:rPr lang="en-US" sz="95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para provar que, em caso de falha de saldo, a anotação </a:t>
            </a:r>
            <a:r>
              <a:rPr lang="en-US" sz="95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@Transactional</a:t>
            </a: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desfaz toda a operação e o dinheiro não sai da conta de origem.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61421" y="1548036"/>
            <a:ext cx="3680445" cy="2621012"/>
          </a:xfrm>
          <a:prstGeom prst="roundRect">
            <a:avLst>
              <a:gd name="adj" fmla="val 3408"/>
            </a:avLst>
          </a:prstGeom>
          <a:solidFill>
            <a:srgbClr val="4967E9">
              <a:alpha val="9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185395" y="1672010"/>
            <a:ext cx="261669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Por que testar com banco real?</a:t>
            </a:r>
            <a:endParaRPr lang="en-US" sz="12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1904" y="2011487"/>
            <a:ext cx="186035" cy="18603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588422" y="2005385"/>
            <a:ext cx="123572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Restrições de chave estrangeira</a:t>
            </a:r>
            <a:endParaRPr lang="en-US" sz="9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25655" y="2011487"/>
            <a:ext cx="186035" cy="18603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82173" y="2005385"/>
            <a:ext cx="123572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Transações e rollbacks reais</a:t>
            </a:r>
            <a:endParaRPr lang="en-US" sz="9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1904" y="2656433"/>
            <a:ext cx="186035" cy="18603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588422" y="2650331"/>
            <a:ext cx="123572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Tipos de dados SQL nativos</a:t>
            </a:r>
            <a:endParaRPr lang="en-US" sz="9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25655" y="2656433"/>
            <a:ext cx="186035" cy="18603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382173" y="2650331"/>
            <a:ext cx="123572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Comportamento de concorrência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0182" y="342305"/>
            <a:ext cx="4313113" cy="284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Testes de Sistema — Fim-a-Fim (E2E)</a:t>
            </a:r>
            <a:endParaRPr lang="en-US" sz="1750" dirty="0"/>
          </a:p>
        </p:txBody>
      </p:sp>
      <p:sp>
        <p:nvSpPr>
          <p:cNvPr id="3" name="Text 1"/>
          <p:cNvSpPr/>
          <p:nvPr/>
        </p:nvSpPr>
        <p:spPr>
          <a:xfrm>
            <a:off x="980182" y="794147"/>
            <a:ext cx="1595884" cy="142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O Conceito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980182" y="1003325"/>
            <a:ext cx="3480643" cy="38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Validar a aplicação do ponto de vista do </a:t>
            </a:r>
            <a:r>
              <a:rPr lang="en-US" sz="7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usuário final</a:t>
            </a:r>
            <a:r>
              <a:rPr lang="en-US" sz="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do clique na tela à gravação no banco de dados. Os scripts são baseados em </a:t>
            </a:r>
            <a:r>
              <a:rPr lang="en-US" sz="7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Selenium WebDriver</a:t>
            </a:r>
            <a:r>
              <a:rPr lang="en-US" sz="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(</a:t>
            </a:r>
            <a:r>
              <a:rPr lang="en-US" sz="70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AbstractE2ETest.java</a:t>
            </a:r>
            <a:r>
              <a:rPr lang="en-US" sz="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), rodando navegadores em modo </a:t>
            </a:r>
            <a:r>
              <a:rPr lang="en-US" sz="700" i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headless</a:t>
            </a:r>
            <a:r>
              <a:rPr lang="en-US" sz="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980182" y="1458813"/>
            <a:ext cx="1692771" cy="142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Garantia de Isolamento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80182" y="1667991"/>
            <a:ext cx="3480643" cy="38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Antes de cada teste E2E, um comando </a:t>
            </a:r>
            <a:r>
              <a:rPr lang="en-US" sz="70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TRUNCATE CASCADE</a:t>
            </a:r>
            <a:r>
              <a:rPr lang="en-US" sz="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zera o PostgreSQL em milissegundos, evitando dependência de dados entre os testes e garantindo reprodutibilidade.</a:t>
            </a:r>
            <a:endParaRPr lang="en-US" sz="7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7788" y="802481"/>
            <a:ext cx="3480643" cy="348064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80182" y="4433590"/>
            <a:ext cx="7183562" cy="292298"/>
          </a:xfrm>
          <a:prstGeom prst="roundRect">
            <a:avLst>
              <a:gd name="adj" fmla="val 13090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265" y="4553471"/>
            <a:ext cx="113854" cy="910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76201" y="4516562"/>
            <a:ext cx="7253660" cy="126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Os testes E2E validam o fluxo completo da aplicação, incluindo renderização HTML, interações JavaScript e persistência final no banco de dados.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81819"/>
            <a:ext cx="7662565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Requisitos Não Funcionais — SLA de Desempenho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617390"/>
            <a:ext cx="8608963" cy="20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Validação do atributo de qualidade de </a:t>
            </a:r>
            <a:r>
              <a:rPr lang="en-US" sz="9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Eficiência de Desempenho</a:t>
            </a: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do sistema por meio da suíte </a:t>
            </a:r>
            <a:r>
              <a:rPr lang="en-US" sz="95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PerformanceE2ETest.java</a:t>
            </a: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06822" y="1964903"/>
            <a:ext cx="4103191" cy="2196778"/>
          </a:xfrm>
          <a:prstGeom prst="roundRect">
            <a:avLst>
              <a:gd name="adj" fmla="val 4066"/>
            </a:avLst>
          </a:prstGeom>
          <a:solidFill>
            <a:srgbClr val="4967E9">
              <a:alpha val="9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30796" y="2088877"/>
            <a:ext cx="218955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Como foi implementado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30796" y="2406700"/>
            <a:ext cx="3855244" cy="8128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Testes como </a:t>
            </a:r>
            <a:r>
              <a:rPr lang="en-US" sz="950" dirty="0">
                <a:solidFill>
                  <a:srgbClr val="FFFFFF"/>
                </a:solidFill>
                <a:highlight>
                  <a:srgbClr val="5674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signupFormSubmissionRespondsWithinSla</a:t>
            </a:r>
            <a:r>
              <a:rPr lang="en-US" sz="9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utilizam temporizadores internos (</a:t>
            </a:r>
            <a:r>
              <a:rPr lang="en-US" sz="950" dirty="0">
                <a:solidFill>
                  <a:srgbClr val="FFFFFF"/>
                </a:solidFill>
                <a:highlight>
                  <a:srgbClr val="5674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System.currentTimeMillis()</a:t>
            </a:r>
            <a:r>
              <a:rPr lang="en-US" sz="9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) para </a:t>
            </a:r>
            <a:r>
              <a:rPr lang="en-US" sz="950" b="1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falhar a build automaticamente</a:t>
            </a:r>
            <a:r>
              <a:rPr lang="en-US" sz="9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caso o sistema demore mais de </a:t>
            </a:r>
            <a:r>
              <a:rPr lang="en-US" sz="950" b="1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3 segundos</a:t>
            </a:r>
            <a:r>
              <a:rPr lang="en-US" sz="9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para responder a uma submissão de formulário.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728046" y="2088877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Por que isso importa?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28046" y="2406700"/>
            <a:ext cx="3924598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SLAs de desempenho integrados à pipeline de testes garantem que regressões de performance sejam detectadas antes de chegar à produção, tratando a velocidade como um </a:t>
            </a:r>
            <a:r>
              <a:rPr lang="en-US" sz="9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requisito testável</a:t>
            </a: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e não como uma expectativa informal.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28046" y="3340075"/>
            <a:ext cx="3924598" cy="682079"/>
          </a:xfrm>
          <a:prstGeom prst="roundRect">
            <a:avLst>
              <a:gd name="adj" fmla="val 7638"/>
            </a:avLst>
          </a:prstGeom>
          <a:solidFill>
            <a:srgbClr val="FCF2B5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2020" y="3519860"/>
            <a:ext cx="155004" cy="12397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130998" y="3482653"/>
            <a:ext cx="339767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Builds que excedem o SLA de 3s falham automaticamente, bloqueando a entrega.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918C2-1EB5-6FA8-84E2-8DAA5EC71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F081E1B-3CE3-19E7-C9D9-A8FB7A2D2C14}"/>
              </a:ext>
            </a:extLst>
          </p:cNvPr>
          <p:cNvSpPr/>
          <p:nvPr/>
        </p:nvSpPr>
        <p:spPr>
          <a:xfrm>
            <a:off x="496119" y="455488"/>
            <a:ext cx="6271320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Auditoria de Qualidade — ISO/IEC 25010 - </a:t>
            </a:r>
            <a:r>
              <a:rPr lang="en-US" sz="2400" dirty="0" err="1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Esperado</a:t>
            </a:r>
            <a:endParaRPr lang="en-US" sz="2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2038B18-5C53-1DE5-3DC0-68CA64D8779A}"/>
              </a:ext>
            </a:extLst>
          </p:cNvPr>
          <p:cNvSpPr/>
          <p:nvPr/>
        </p:nvSpPr>
        <p:spPr>
          <a:xfrm>
            <a:off x="496119" y="1091059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 err="1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Avaliação</a:t>
            </a: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de </a:t>
            </a:r>
            <a:r>
              <a:rPr lang="en-US" sz="950" dirty="0" err="1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como</a:t>
            </a: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o </a:t>
            </a:r>
            <a:r>
              <a:rPr lang="en-US" sz="950" dirty="0" err="1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sistema</a:t>
            </a: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</a:t>
            </a:r>
            <a:r>
              <a:rPr lang="en-US" sz="950" dirty="0" err="1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deveria</a:t>
            </a: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se </a:t>
            </a:r>
            <a:r>
              <a:rPr lang="en-US" sz="950" dirty="0" err="1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portar</a:t>
            </a: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na norma </a:t>
            </a:r>
            <a:r>
              <a:rPr lang="en-US" sz="9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ISO/IEC 25010:2016</a:t>
            </a: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em escala de 1 a 5.</a:t>
            </a:r>
            <a:endParaRPr lang="en-US" sz="95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87AE9A7-E389-1CF2-9679-E58834C82C85}"/>
              </a:ext>
            </a:extLst>
          </p:cNvPr>
          <p:cNvSpPr/>
          <p:nvPr/>
        </p:nvSpPr>
        <p:spPr>
          <a:xfrm>
            <a:off x="496119" y="1429048"/>
            <a:ext cx="8151763" cy="3258964"/>
          </a:xfrm>
          <a:prstGeom prst="roundRect">
            <a:avLst>
              <a:gd name="adj" fmla="val 1599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13D0F70-4A78-529B-10C4-839CC36C3740}"/>
              </a:ext>
            </a:extLst>
          </p:cNvPr>
          <p:cNvSpPr/>
          <p:nvPr/>
        </p:nvSpPr>
        <p:spPr>
          <a:xfrm>
            <a:off x="624929" y="1512987"/>
            <a:ext cx="337162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Característica de Qualidade</a:t>
            </a:r>
            <a:endParaRPr lang="en-US" sz="9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BC8D0CA-1C18-F80A-79A2-D2F8B67EE017}"/>
              </a:ext>
            </a:extLst>
          </p:cNvPr>
          <p:cNvSpPr/>
          <p:nvPr/>
        </p:nvSpPr>
        <p:spPr>
          <a:xfrm>
            <a:off x="3787304" y="1512987"/>
            <a:ext cx="145420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Nota</a:t>
            </a:r>
            <a:endParaRPr lang="en-US" sz="9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EADFB94-63FB-6064-76B3-5CB28D86B0CE}"/>
              </a:ext>
            </a:extLst>
          </p:cNvPr>
          <p:cNvSpPr/>
          <p:nvPr/>
        </p:nvSpPr>
        <p:spPr>
          <a:xfrm>
            <a:off x="4587751" y="1512987"/>
            <a:ext cx="394409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 err="1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Justificativas</a:t>
            </a:r>
            <a:endParaRPr lang="en-US" sz="9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A749A0D-9DDC-8929-74E8-3F6221995808}"/>
              </a:ext>
            </a:extLst>
          </p:cNvPr>
          <p:cNvSpPr/>
          <p:nvPr/>
        </p:nvSpPr>
        <p:spPr>
          <a:xfrm>
            <a:off x="624929" y="1874565"/>
            <a:ext cx="337162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Adequação Funcional</a:t>
            </a:r>
            <a:endParaRPr lang="en-US" sz="9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9F8EE0F-5844-EABF-258B-E39ECD938F4D}"/>
              </a:ext>
            </a:extLst>
          </p:cNvPr>
          <p:cNvSpPr/>
          <p:nvPr/>
        </p:nvSpPr>
        <p:spPr>
          <a:xfrm>
            <a:off x="3787304" y="1874565"/>
            <a:ext cx="145420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FF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5 / 5</a:t>
            </a:r>
            <a:endParaRPr lang="en-US" sz="950" dirty="0">
              <a:solidFill>
                <a:srgbClr val="FF0000"/>
              </a:solidFill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3FC5E48-AA3E-400B-0C1E-44B2391B6340}"/>
              </a:ext>
            </a:extLst>
          </p:cNvPr>
          <p:cNvSpPr/>
          <p:nvPr/>
        </p:nvSpPr>
        <p:spPr>
          <a:xfrm>
            <a:off x="4587751" y="1874565"/>
            <a:ext cx="455624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pt-BR" sz="950" dirty="0">
                <a:latin typeface="Nobile" panose="020B0604020202020204" charset="0"/>
              </a:rPr>
              <a:t>Deve executar corretamente cadastro, login, consulta de saldo,</a:t>
            </a:r>
          </a:p>
          <a:p>
            <a:r>
              <a:rPr lang="pt-BR" sz="950" dirty="0">
                <a:latin typeface="Nobile" panose="020B0604020202020204" charset="0"/>
              </a:rPr>
              <a:t>depósito, saque, transferência, investimento e extrato.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D7A6100-92B4-1ADB-0CF2-04AC0A44F36F}"/>
              </a:ext>
            </a:extLst>
          </p:cNvPr>
          <p:cNvSpPr/>
          <p:nvPr/>
        </p:nvSpPr>
        <p:spPr>
          <a:xfrm>
            <a:off x="624929" y="2236143"/>
            <a:ext cx="337162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Eficiência de Desempenho</a:t>
            </a:r>
            <a:endParaRPr lang="en-US" sz="95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FB690DE-6168-A2EC-D254-6DDC6B508B09}"/>
              </a:ext>
            </a:extLst>
          </p:cNvPr>
          <p:cNvSpPr/>
          <p:nvPr/>
        </p:nvSpPr>
        <p:spPr>
          <a:xfrm>
            <a:off x="3787304" y="2236143"/>
            <a:ext cx="145420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4 / 5</a:t>
            </a:r>
            <a:endParaRPr lang="en-US" sz="95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B9F94CE-9090-6E34-7D3B-ED0527600B68}"/>
              </a:ext>
            </a:extLst>
          </p:cNvPr>
          <p:cNvSpPr/>
          <p:nvPr/>
        </p:nvSpPr>
        <p:spPr>
          <a:xfrm>
            <a:off x="4587751" y="2236143"/>
            <a:ext cx="394409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 </a:t>
            </a:r>
            <a:r>
              <a:rPr lang="en-US" sz="950" dirty="0" err="1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usuário</a:t>
            </a: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</a:t>
            </a:r>
            <a:r>
              <a:rPr lang="en-US" sz="950" dirty="0" err="1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precisa</a:t>
            </a: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</a:t>
            </a:r>
            <a:r>
              <a:rPr lang="en-US" sz="950" dirty="0" err="1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consultar</a:t>
            </a: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e </a:t>
            </a:r>
            <a:r>
              <a:rPr lang="en-US" sz="950" dirty="0" err="1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movimentar</a:t>
            </a: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</a:t>
            </a:r>
            <a:r>
              <a:rPr lang="en-US" sz="950" dirty="0" err="1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sua</a:t>
            </a: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</a:t>
            </a:r>
            <a:r>
              <a:rPr lang="en-US" sz="950" dirty="0" err="1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conta</a:t>
            </a: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</a:t>
            </a:r>
            <a:r>
              <a:rPr lang="en-US" sz="950" dirty="0" err="1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sem</a:t>
            </a: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</a:t>
            </a:r>
            <a:r>
              <a:rPr lang="en-US" sz="950" dirty="0" err="1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atrasos</a:t>
            </a: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</a:t>
            </a:r>
            <a:endParaRPr lang="en-US" sz="95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9B8ACC4-6FF3-837F-0E50-1BC5ED3A4A58}"/>
              </a:ext>
            </a:extLst>
          </p:cNvPr>
          <p:cNvSpPr/>
          <p:nvPr/>
        </p:nvSpPr>
        <p:spPr>
          <a:xfrm>
            <a:off x="624929" y="2597721"/>
            <a:ext cx="337162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Compatibilidade</a:t>
            </a:r>
            <a:endParaRPr lang="en-US" sz="95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E0B6F2C-1036-D3A2-8066-BC8674D9DAB1}"/>
              </a:ext>
            </a:extLst>
          </p:cNvPr>
          <p:cNvSpPr/>
          <p:nvPr/>
        </p:nvSpPr>
        <p:spPr>
          <a:xfrm>
            <a:off x="3787304" y="2597721"/>
            <a:ext cx="145420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4 / 5</a:t>
            </a:r>
            <a:endParaRPr lang="en-US" sz="95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9F243C28-5860-1CD1-31D7-62FA4FABC70A}"/>
              </a:ext>
            </a:extLst>
          </p:cNvPr>
          <p:cNvSpPr/>
          <p:nvPr/>
        </p:nvSpPr>
        <p:spPr>
          <a:xfrm>
            <a:off x="4587751" y="2597721"/>
            <a:ext cx="4060130" cy="36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pt-BR" sz="950" dirty="0">
                <a:solidFill>
                  <a:schemeClr val="tx1">
                    <a:lumMod val="65000"/>
                    <a:lumOff val="35000"/>
                  </a:schemeClr>
                </a:solidFill>
                <a:latin typeface="Nobile" panose="020B0604020202020204" charset="0"/>
              </a:rPr>
              <a:t>Funcionar no ambiente dos integrantes, dos avaliadores e em </a:t>
            </a:r>
            <a:br>
              <a:rPr lang="pt-BR" sz="950" dirty="0">
                <a:solidFill>
                  <a:schemeClr val="tx1">
                    <a:lumMod val="65000"/>
                    <a:lumOff val="35000"/>
                  </a:schemeClr>
                </a:solidFill>
                <a:latin typeface="Nobile" panose="020B0604020202020204" charset="0"/>
              </a:rPr>
            </a:br>
            <a:r>
              <a:rPr lang="pt-BR" sz="950" dirty="0">
                <a:solidFill>
                  <a:schemeClr val="tx1">
                    <a:lumMod val="65000"/>
                    <a:lumOff val="35000"/>
                  </a:schemeClr>
                </a:solidFill>
                <a:latin typeface="Nobile" panose="020B0604020202020204" charset="0"/>
              </a:rPr>
              <a:t>navegadores comuns</a:t>
            </a:r>
            <a:r>
              <a:rPr lang="pt-BR" sz="950" dirty="0"/>
              <a:t>.</a:t>
            </a: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230204E1-C7E5-2D4E-C0DA-180963B45767}"/>
              </a:ext>
            </a:extLst>
          </p:cNvPr>
          <p:cNvSpPr/>
          <p:nvPr/>
        </p:nvSpPr>
        <p:spPr>
          <a:xfrm>
            <a:off x="624929" y="2959298"/>
            <a:ext cx="337162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Usabilidade</a:t>
            </a:r>
            <a:endParaRPr lang="en-US" sz="95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50D23BF3-A035-FD17-EFCF-F53E9BC7FD7E}"/>
              </a:ext>
            </a:extLst>
          </p:cNvPr>
          <p:cNvSpPr/>
          <p:nvPr/>
        </p:nvSpPr>
        <p:spPr>
          <a:xfrm>
            <a:off x="3787304" y="2959298"/>
            <a:ext cx="145420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4 / 5</a:t>
            </a:r>
            <a:endParaRPr lang="en-US" sz="95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1EA3F584-51A7-6A85-2B23-CEEFF9B35983}"/>
              </a:ext>
            </a:extLst>
          </p:cNvPr>
          <p:cNvSpPr/>
          <p:nvPr/>
        </p:nvSpPr>
        <p:spPr>
          <a:xfrm>
            <a:off x="4587751" y="2959298"/>
            <a:ext cx="394409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pt-BR" sz="950" dirty="0">
                <a:solidFill>
                  <a:schemeClr val="tx1">
                    <a:lumMod val="65000"/>
                    <a:lumOff val="35000"/>
                  </a:schemeClr>
                </a:solidFill>
                <a:latin typeface="Nobile" panose="020B0604020202020204" charset="0"/>
              </a:rPr>
              <a:t>Operações precisam ser compreensíveis e fornecer confirmação clara.</a:t>
            </a:r>
          </a:p>
          <a:p>
            <a:pPr marL="0" indent="0" algn="l">
              <a:lnSpc>
                <a:spcPct val="133000"/>
              </a:lnSpc>
              <a:buNone/>
            </a:pPr>
            <a:endParaRPr lang="en-US" sz="95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FF2ED5F8-C111-C006-E2B5-93158B1DC8D8}"/>
              </a:ext>
            </a:extLst>
          </p:cNvPr>
          <p:cNvSpPr/>
          <p:nvPr/>
        </p:nvSpPr>
        <p:spPr>
          <a:xfrm>
            <a:off x="624929" y="3320876"/>
            <a:ext cx="337162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Confiabilidade</a:t>
            </a:r>
            <a:endParaRPr lang="en-US" sz="95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14AE5C93-8344-C09C-2D67-C5EEABD6F5DB}"/>
              </a:ext>
            </a:extLst>
          </p:cNvPr>
          <p:cNvSpPr/>
          <p:nvPr/>
        </p:nvSpPr>
        <p:spPr>
          <a:xfrm>
            <a:off x="3787304" y="3320876"/>
            <a:ext cx="145420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FF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5 / 5</a:t>
            </a:r>
            <a:endParaRPr lang="en-US" sz="950" dirty="0">
              <a:solidFill>
                <a:srgbClr val="FF0000"/>
              </a:solidFill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D85F3390-B0B3-DE53-B11A-ED77C92F15A0}"/>
              </a:ext>
            </a:extLst>
          </p:cNvPr>
          <p:cNvSpPr/>
          <p:nvPr/>
        </p:nvSpPr>
        <p:spPr>
          <a:xfrm>
            <a:off x="4587751" y="3320876"/>
            <a:ext cx="394409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pt-BR" sz="950" dirty="0">
                <a:solidFill>
                  <a:schemeClr val="tx1">
                    <a:lumMod val="75000"/>
                    <a:lumOff val="25000"/>
                  </a:schemeClr>
                </a:solidFill>
                <a:latin typeface="Nobile" panose="020B0604020202020204" charset="0"/>
              </a:rPr>
              <a:t>Depósitos, saques, transferências e investimentos precisam ser atômicos.</a:t>
            </a: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241D8994-6908-CE17-0BF7-D875FC55D4AC}"/>
              </a:ext>
            </a:extLst>
          </p:cNvPr>
          <p:cNvSpPr/>
          <p:nvPr/>
        </p:nvSpPr>
        <p:spPr>
          <a:xfrm>
            <a:off x="624929" y="3682454"/>
            <a:ext cx="337162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Segurança</a:t>
            </a:r>
            <a:endParaRPr lang="en-US" sz="95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C1723F17-C400-2CEB-B030-CFEFAAEC50A9}"/>
              </a:ext>
            </a:extLst>
          </p:cNvPr>
          <p:cNvSpPr/>
          <p:nvPr/>
        </p:nvSpPr>
        <p:spPr>
          <a:xfrm>
            <a:off x="3787304" y="3682454"/>
            <a:ext cx="145420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FF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5 / 5</a:t>
            </a:r>
            <a:endParaRPr lang="en-US" sz="950" dirty="0">
              <a:solidFill>
                <a:srgbClr val="FF0000"/>
              </a:solidFill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1175F50E-F5EB-2653-B2DD-13032FD0CEA4}"/>
              </a:ext>
            </a:extLst>
          </p:cNvPr>
          <p:cNvSpPr/>
          <p:nvPr/>
        </p:nvSpPr>
        <p:spPr>
          <a:xfrm>
            <a:off x="4587751" y="3682454"/>
            <a:ext cx="394409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pt-BR" sz="950" dirty="0">
                <a:solidFill>
                  <a:schemeClr val="tx1">
                    <a:lumMod val="65000"/>
                    <a:lumOff val="35000"/>
                  </a:schemeClr>
                </a:solidFill>
                <a:latin typeface="Nobile" panose="020B0604020202020204" charset="0"/>
              </a:rPr>
              <a:t>O sistema trata credenciais, saldos e movimentações financeiras.</a:t>
            </a: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0BF32230-1C44-31BE-4271-E71168ECEEF4}"/>
              </a:ext>
            </a:extLst>
          </p:cNvPr>
          <p:cNvSpPr/>
          <p:nvPr/>
        </p:nvSpPr>
        <p:spPr>
          <a:xfrm>
            <a:off x="624929" y="4044032"/>
            <a:ext cx="337162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Manutenibilidade</a:t>
            </a:r>
            <a:endParaRPr lang="en-US" sz="95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CC8EEFFB-9AE3-B734-9BA9-A98A71451740}"/>
              </a:ext>
            </a:extLst>
          </p:cNvPr>
          <p:cNvSpPr/>
          <p:nvPr/>
        </p:nvSpPr>
        <p:spPr>
          <a:xfrm>
            <a:off x="3787304" y="4044032"/>
            <a:ext cx="30432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4 / 5</a:t>
            </a:r>
            <a:endParaRPr lang="en-US" sz="9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20B36A23-3140-996B-2E2E-8E8E5F51D525}"/>
              </a:ext>
            </a:extLst>
          </p:cNvPr>
          <p:cNvSpPr/>
          <p:nvPr/>
        </p:nvSpPr>
        <p:spPr>
          <a:xfrm>
            <a:off x="4574977" y="3986770"/>
            <a:ext cx="3944094" cy="2557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Nobile" panose="020B0604020202020204" charset="0"/>
              </a:rPr>
              <a:t>O projeto é desenvolvido por uma equipe e precisa permitir correções </a:t>
            </a:r>
          </a:p>
          <a:p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Nobile" panose="020B0604020202020204" charset="0"/>
              </a:rPr>
              <a:t>e novas funcionalidades sem introduzir regressões.</a:t>
            </a: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90B101B9-C5E1-1EE6-91D0-0491BA1A6024}"/>
              </a:ext>
            </a:extLst>
          </p:cNvPr>
          <p:cNvSpPr/>
          <p:nvPr/>
        </p:nvSpPr>
        <p:spPr>
          <a:xfrm>
            <a:off x="624929" y="4405610"/>
            <a:ext cx="337162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Portabilidade</a:t>
            </a:r>
            <a:endParaRPr lang="en-US" sz="95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901833FE-9871-5346-4653-2A435788120B}"/>
              </a:ext>
            </a:extLst>
          </p:cNvPr>
          <p:cNvSpPr/>
          <p:nvPr/>
        </p:nvSpPr>
        <p:spPr>
          <a:xfrm>
            <a:off x="3787304" y="4420901"/>
            <a:ext cx="33806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4 / 5</a:t>
            </a:r>
            <a:endParaRPr lang="en-US" sz="9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A1C999A6-3FD5-858E-BB20-212E420CDEE1}"/>
              </a:ext>
            </a:extLst>
          </p:cNvPr>
          <p:cNvSpPr/>
          <p:nvPr/>
        </p:nvSpPr>
        <p:spPr>
          <a:xfrm>
            <a:off x="4572000" y="4405610"/>
            <a:ext cx="3978653" cy="2137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85000" lnSpcReduction="20000"/>
          </a:bodyPr>
          <a:lstStyle/>
          <a:p>
            <a:r>
              <a:rPr lang="pt-BR" sz="950" dirty="0">
                <a:solidFill>
                  <a:schemeClr val="tx1">
                    <a:lumMod val="65000"/>
                    <a:lumOff val="35000"/>
                  </a:schemeClr>
                </a:solidFill>
                <a:latin typeface="Nobile" panose="020B0604020202020204" charset="0"/>
              </a:rPr>
              <a:t>Todos os integrantes e avaliadores devem conseguir executar </a:t>
            </a:r>
          </a:p>
          <a:p>
            <a:r>
              <a:rPr lang="pt-BR" sz="950" dirty="0">
                <a:solidFill>
                  <a:schemeClr val="tx1">
                    <a:lumMod val="65000"/>
                    <a:lumOff val="35000"/>
                  </a:schemeClr>
                </a:solidFill>
                <a:latin typeface="Nobile" panose="020B0604020202020204" charset="0"/>
              </a:rPr>
              <a:t>o projeto sem instalar e configurar manualmente cada componente.</a:t>
            </a:r>
          </a:p>
        </p:txBody>
      </p:sp>
    </p:spTree>
    <p:extLst>
      <p:ext uri="{BB962C8B-B14F-4D97-AF65-F5344CB8AC3E}">
        <p14:creationId xmlns:p14="http://schemas.microsoft.com/office/powerpoint/2010/main" val="12074773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3231D-865F-B888-B538-5D5F414AA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7815375-C439-B966-C52F-BDA46138758E}"/>
              </a:ext>
            </a:extLst>
          </p:cNvPr>
          <p:cNvSpPr/>
          <p:nvPr/>
        </p:nvSpPr>
        <p:spPr>
          <a:xfrm>
            <a:off x="496119" y="455488"/>
            <a:ext cx="6271320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Auditoria de Qualidade — ISO/IEC 25010 - </a:t>
            </a:r>
            <a:r>
              <a:rPr lang="en-US" sz="2400" dirty="0" err="1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Resultado</a:t>
            </a:r>
            <a:endParaRPr lang="en-US" sz="2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819CAD3-FC35-726C-453A-4F14B37D1D0A}"/>
              </a:ext>
            </a:extLst>
          </p:cNvPr>
          <p:cNvSpPr/>
          <p:nvPr/>
        </p:nvSpPr>
        <p:spPr>
          <a:xfrm>
            <a:off x="496119" y="1091059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Avaliação do sistema baseada na norma </a:t>
            </a:r>
            <a:r>
              <a:rPr lang="en-US" sz="9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ISO/IEC 25010:2016</a:t>
            </a: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em escala de 1 a 5.</a:t>
            </a:r>
            <a:endParaRPr lang="en-US" sz="95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BD79B3D-626F-5375-0BF0-27048F0BA8CB}"/>
              </a:ext>
            </a:extLst>
          </p:cNvPr>
          <p:cNvSpPr/>
          <p:nvPr/>
        </p:nvSpPr>
        <p:spPr>
          <a:xfrm>
            <a:off x="496119" y="1429048"/>
            <a:ext cx="8151763" cy="3258964"/>
          </a:xfrm>
          <a:prstGeom prst="roundRect">
            <a:avLst>
              <a:gd name="adj" fmla="val 1599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B0E45E6-743C-8C10-BF37-C369509F6055}"/>
              </a:ext>
            </a:extLst>
          </p:cNvPr>
          <p:cNvSpPr/>
          <p:nvPr/>
        </p:nvSpPr>
        <p:spPr>
          <a:xfrm>
            <a:off x="624929" y="1512987"/>
            <a:ext cx="337162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Característica de Qualidade</a:t>
            </a:r>
            <a:endParaRPr lang="en-US" sz="9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0ACE844-BCB1-723E-A3B2-8DE907F6BC75}"/>
              </a:ext>
            </a:extLst>
          </p:cNvPr>
          <p:cNvSpPr/>
          <p:nvPr/>
        </p:nvSpPr>
        <p:spPr>
          <a:xfrm>
            <a:off x="3787304" y="1512987"/>
            <a:ext cx="145420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Nota</a:t>
            </a:r>
            <a:endParaRPr lang="en-US" sz="9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98201ED-7794-3E16-EDC1-376C806C63E8}"/>
              </a:ext>
            </a:extLst>
          </p:cNvPr>
          <p:cNvSpPr/>
          <p:nvPr/>
        </p:nvSpPr>
        <p:spPr>
          <a:xfrm>
            <a:off x="5032251" y="1512987"/>
            <a:ext cx="394409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Observação</a:t>
            </a:r>
            <a:endParaRPr lang="en-US" sz="9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72A8D9A-9E61-BDF9-37A9-49C6DA42321C}"/>
              </a:ext>
            </a:extLst>
          </p:cNvPr>
          <p:cNvSpPr/>
          <p:nvPr/>
        </p:nvSpPr>
        <p:spPr>
          <a:xfrm>
            <a:off x="624929" y="1874565"/>
            <a:ext cx="337162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Adequação Funcional</a:t>
            </a:r>
            <a:endParaRPr lang="en-US" sz="9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9AA8BDA-3E9E-4BA5-1C34-568CCCE4332D}"/>
              </a:ext>
            </a:extLst>
          </p:cNvPr>
          <p:cNvSpPr/>
          <p:nvPr/>
        </p:nvSpPr>
        <p:spPr>
          <a:xfrm>
            <a:off x="3787304" y="1874565"/>
            <a:ext cx="145420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2C55E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4 / 5</a:t>
            </a:r>
            <a:endParaRPr lang="en-US" sz="95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6C303B7-97CA-ED19-B2C5-987E29F36799}"/>
              </a:ext>
            </a:extLst>
          </p:cNvPr>
          <p:cNvSpPr/>
          <p:nvPr/>
        </p:nvSpPr>
        <p:spPr>
          <a:xfrm>
            <a:off x="5032251" y="1874565"/>
            <a:ext cx="394409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Fluxos implementados e com testes adequados</a:t>
            </a:r>
            <a:endParaRPr lang="en-US" sz="95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B39E8C4-0BE1-2A91-CA23-0ABA4C441D79}"/>
              </a:ext>
            </a:extLst>
          </p:cNvPr>
          <p:cNvSpPr/>
          <p:nvPr/>
        </p:nvSpPr>
        <p:spPr>
          <a:xfrm>
            <a:off x="624929" y="2236143"/>
            <a:ext cx="337162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Eficiência de Desempenho</a:t>
            </a:r>
            <a:endParaRPr lang="en-US" sz="95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9C42BA5-B1F3-6D65-DF76-2795D3D4F749}"/>
              </a:ext>
            </a:extLst>
          </p:cNvPr>
          <p:cNvSpPr/>
          <p:nvPr/>
        </p:nvSpPr>
        <p:spPr>
          <a:xfrm>
            <a:off x="3787304" y="2236143"/>
            <a:ext cx="145420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2 / 5</a:t>
            </a:r>
            <a:endParaRPr lang="en-US" sz="95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5DB6FB3-5C57-8D2A-65B7-5A78581D9D40}"/>
              </a:ext>
            </a:extLst>
          </p:cNvPr>
          <p:cNvSpPr/>
          <p:nvPr/>
        </p:nvSpPr>
        <p:spPr>
          <a:xfrm>
            <a:off x="5032251" y="2236143"/>
            <a:ext cx="394409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Sem coleta profunda de métricas sob estresse</a:t>
            </a:r>
            <a:endParaRPr lang="en-US" sz="95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486840E-AEF3-E1F0-DB55-6B7AA3910215}"/>
              </a:ext>
            </a:extLst>
          </p:cNvPr>
          <p:cNvSpPr/>
          <p:nvPr/>
        </p:nvSpPr>
        <p:spPr>
          <a:xfrm>
            <a:off x="624929" y="2597721"/>
            <a:ext cx="337162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Compatibilidade</a:t>
            </a:r>
            <a:endParaRPr lang="en-US" sz="95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2C6BCA8-BA84-1AD2-10A2-BEDB6F49C624}"/>
              </a:ext>
            </a:extLst>
          </p:cNvPr>
          <p:cNvSpPr/>
          <p:nvPr/>
        </p:nvSpPr>
        <p:spPr>
          <a:xfrm>
            <a:off x="3787304" y="2597721"/>
            <a:ext cx="145420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3 / 5</a:t>
            </a:r>
            <a:endParaRPr lang="en-US" sz="95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FA8516F3-783A-2CD3-8012-BC79F688F9AB}"/>
              </a:ext>
            </a:extLst>
          </p:cNvPr>
          <p:cNvSpPr/>
          <p:nvPr/>
        </p:nvSpPr>
        <p:spPr>
          <a:xfrm>
            <a:off x="5032251" y="2597721"/>
            <a:ext cx="394409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Padrões abertos utilizados</a:t>
            </a:r>
            <a:endParaRPr lang="en-US" sz="95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D4DB4EFC-4979-B5CE-8763-4DB56A6E7943}"/>
              </a:ext>
            </a:extLst>
          </p:cNvPr>
          <p:cNvSpPr/>
          <p:nvPr/>
        </p:nvSpPr>
        <p:spPr>
          <a:xfrm>
            <a:off x="624929" y="2959298"/>
            <a:ext cx="337162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Usabilidade</a:t>
            </a:r>
            <a:endParaRPr lang="en-US" sz="95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506A7281-42AA-E086-3DDF-CB7FF46C4899}"/>
              </a:ext>
            </a:extLst>
          </p:cNvPr>
          <p:cNvSpPr/>
          <p:nvPr/>
        </p:nvSpPr>
        <p:spPr>
          <a:xfrm>
            <a:off x="3787304" y="2959298"/>
            <a:ext cx="145420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2 / 5</a:t>
            </a:r>
            <a:endParaRPr lang="en-US" sz="95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ECEDD643-78D0-23E4-ED12-D35A704EB039}"/>
              </a:ext>
            </a:extLst>
          </p:cNvPr>
          <p:cNvSpPr/>
          <p:nvPr/>
        </p:nvSpPr>
        <p:spPr>
          <a:xfrm>
            <a:off x="5032251" y="2959298"/>
            <a:ext cx="394409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Interface funcional, mas sem atributos de acessibilidade</a:t>
            </a:r>
            <a:endParaRPr lang="en-US" sz="95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F6141FD2-850C-F9A5-827C-8162806D2C97}"/>
              </a:ext>
            </a:extLst>
          </p:cNvPr>
          <p:cNvSpPr/>
          <p:nvPr/>
        </p:nvSpPr>
        <p:spPr>
          <a:xfrm>
            <a:off x="624929" y="3320876"/>
            <a:ext cx="337162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Confiabilidade</a:t>
            </a:r>
            <a:endParaRPr lang="en-US" sz="95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FB1E832A-E91F-4D5F-B64A-597F1B4BFB6F}"/>
              </a:ext>
            </a:extLst>
          </p:cNvPr>
          <p:cNvSpPr/>
          <p:nvPr/>
        </p:nvSpPr>
        <p:spPr>
          <a:xfrm>
            <a:off x="3787304" y="3320876"/>
            <a:ext cx="145420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2 / 5</a:t>
            </a:r>
            <a:endParaRPr lang="en-US" sz="95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410C2E39-7C61-3198-9FA0-8C142437BB9C}"/>
              </a:ext>
            </a:extLst>
          </p:cNvPr>
          <p:cNvSpPr/>
          <p:nvPr/>
        </p:nvSpPr>
        <p:spPr>
          <a:xfrm>
            <a:off x="5032251" y="3320876"/>
            <a:ext cx="394409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Arquitetura simples, sem backups automatizados</a:t>
            </a:r>
            <a:endParaRPr lang="en-US" sz="95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FFE16D88-FDD1-34AC-CF84-B22E3EBD3BEF}"/>
              </a:ext>
            </a:extLst>
          </p:cNvPr>
          <p:cNvSpPr/>
          <p:nvPr/>
        </p:nvSpPr>
        <p:spPr>
          <a:xfrm>
            <a:off x="624929" y="3682454"/>
            <a:ext cx="337162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Segurança</a:t>
            </a:r>
            <a:endParaRPr lang="en-US" sz="95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B5A65928-A29C-D315-0B3A-A6774410334C}"/>
              </a:ext>
            </a:extLst>
          </p:cNvPr>
          <p:cNvSpPr/>
          <p:nvPr/>
        </p:nvSpPr>
        <p:spPr>
          <a:xfrm>
            <a:off x="3787304" y="3682454"/>
            <a:ext cx="145420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3 / 5</a:t>
            </a:r>
            <a:endParaRPr lang="en-US" sz="95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F053C374-BFC7-BB83-71CB-5DB7C2A876E8}"/>
              </a:ext>
            </a:extLst>
          </p:cNvPr>
          <p:cNvSpPr/>
          <p:nvPr/>
        </p:nvSpPr>
        <p:spPr>
          <a:xfrm>
            <a:off x="5032251" y="3682454"/>
            <a:ext cx="394409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Criptografia e parametrização fortes, mas sem audit logs</a:t>
            </a:r>
            <a:endParaRPr lang="en-US" sz="95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4A02CA2E-6D4C-A8E3-1B97-A34B1894F97E}"/>
              </a:ext>
            </a:extLst>
          </p:cNvPr>
          <p:cNvSpPr/>
          <p:nvPr/>
        </p:nvSpPr>
        <p:spPr>
          <a:xfrm>
            <a:off x="624929" y="4044032"/>
            <a:ext cx="337162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Manutenibilidade</a:t>
            </a:r>
            <a:endParaRPr lang="en-US" sz="95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A24A225C-F341-FA82-8778-048B984AAEE9}"/>
              </a:ext>
            </a:extLst>
          </p:cNvPr>
          <p:cNvSpPr/>
          <p:nvPr/>
        </p:nvSpPr>
        <p:spPr>
          <a:xfrm>
            <a:off x="3787304" y="4044032"/>
            <a:ext cx="145420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2C55E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4 / 5</a:t>
            </a:r>
            <a:endParaRPr lang="en-US" sz="95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90D83C25-636C-E3D0-F8A3-D351D66404AA}"/>
              </a:ext>
            </a:extLst>
          </p:cNvPr>
          <p:cNvSpPr/>
          <p:nvPr/>
        </p:nvSpPr>
        <p:spPr>
          <a:xfrm>
            <a:off x="5032251" y="4044032"/>
            <a:ext cx="394409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Camadas limpas e altíssima testabilidade</a:t>
            </a:r>
            <a:endParaRPr lang="en-US" sz="95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8AA0A575-221F-6947-AB73-6BF94C128B11}"/>
              </a:ext>
            </a:extLst>
          </p:cNvPr>
          <p:cNvSpPr/>
          <p:nvPr/>
        </p:nvSpPr>
        <p:spPr>
          <a:xfrm>
            <a:off x="624929" y="4405610"/>
            <a:ext cx="337162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Portabilidade</a:t>
            </a:r>
            <a:endParaRPr lang="en-US" sz="95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6B42F071-976C-4483-3B09-CC6AD68F3CCD}"/>
              </a:ext>
            </a:extLst>
          </p:cNvPr>
          <p:cNvSpPr/>
          <p:nvPr/>
        </p:nvSpPr>
        <p:spPr>
          <a:xfrm>
            <a:off x="3787304" y="4405610"/>
            <a:ext cx="145420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2C55E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4 / 5</a:t>
            </a:r>
            <a:endParaRPr lang="en-US" sz="95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F1A1DAFD-AA71-C049-2D56-10434EAF7D83}"/>
              </a:ext>
            </a:extLst>
          </p:cNvPr>
          <p:cNvSpPr/>
          <p:nvPr/>
        </p:nvSpPr>
        <p:spPr>
          <a:xfrm>
            <a:off x="5032251" y="4405610"/>
            <a:ext cx="394409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Instalação contida em apenas 1 comando Docker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39133568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B5659-2DA0-FC4C-274B-C5D2F3F9B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7D99B09-1D70-1C7F-9A2F-63F5B73A4CEE}"/>
              </a:ext>
            </a:extLst>
          </p:cNvPr>
          <p:cNvSpPr/>
          <p:nvPr/>
        </p:nvSpPr>
        <p:spPr>
          <a:xfrm>
            <a:off x="496119" y="455488"/>
            <a:ext cx="6271320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 err="1">
                <a:solidFill>
                  <a:srgbClr val="1B1B27"/>
                </a:solidFill>
                <a:latin typeface="Corben" pitchFamily="34" charset="0"/>
              </a:rPr>
              <a:t>Revisão</a:t>
            </a:r>
            <a:r>
              <a:rPr lang="en-US" sz="2400" dirty="0">
                <a:solidFill>
                  <a:srgbClr val="1B1B27"/>
                </a:solidFill>
                <a:latin typeface="Corben" pitchFamily="34" charset="0"/>
              </a:rPr>
              <a:t> com o Sonar</a:t>
            </a:r>
            <a:endParaRPr lang="en-US" sz="2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15A1071-453B-9C01-74F5-DD7EDA7B658A}"/>
              </a:ext>
            </a:extLst>
          </p:cNvPr>
          <p:cNvSpPr/>
          <p:nvPr/>
        </p:nvSpPr>
        <p:spPr>
          <a:xfrm>
            <a:off x="496119" y="1091059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950" dirty="0" err="1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Avaliação</a:t>
            </a: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do </a:t>
            </a:r>
            <a:r>
              <a:rPr lang="en-US" sz="950" dirty="0" err="1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sistema</a:t>
            </a: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com o </a:t>
            </a:r>
            <a:r>
              <a:rPr lang="en-US" sz="950" dirty="0" err="1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suporte</a:t>
            </a: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do Sonar.</a:t>
            </a:r>
            <a:endParaRPr lang="en-US" sz="95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92D88CD-FA64-EBD9-2170-B0E1BA087B6A}"/>
              </a:ext>
            </a:extLst>
          </p:cNvPr>
          <p:cNvSpPr/>
          <p:nvPr/>
        </p:nvSpPr>
        <p:spPr>
          <a:xfrm>
            <a:off x="496119" y="1429048"/>
            <a:ext cx="8151763" cy="3258964"/>
          </a:xfrm>
          <a:prstGeom prst="roundRect">
            <a:avLst>
              <a:gd name="adj" fmla="val 1599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7A9E7CB-46A2-FB04-9255-CE3C949AFE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8" y="1429048"/>
            <a:ext cx="8151763" cy="3175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4055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17567-C18D-2D99-F89C-19AD4DF74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5FF2C6C-DF89-E2F7-6A54-A35A862F2458}"/>
              </a:ext>
            </a:extLst>
          </p:cNvPr>
          <p:cNvSpPr/>
          <p:nvPr/>
        </p:nvSpPr>
        <p:spPr>
          <a:xfrm>
            <a:off x="496119" y="455488"/>
            <a:ext cx="6271320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 err="1">
                <a:solidFill>
                  <a:srgbClr val="1B1B27"/>
                </a:solidFill>
                <a:latin typeface="Corben" pitchFamily="34" charset="0"/>
              </a:rPr>
              <a:t>Revisão</a:t>
            </a:r>
            <a:r>
              <a:rPr lang="en-US" sz="2400" dirty="0">
                <a:solidFill>
                  <a:srgbClr val="1B1B27"/>
                </a:solidFill>
                <a:latin typeface="Corben" pitchFamily="34" charset="0"/>
              </a:rPr>
              <a:t> com o Sonar</a:t>
            </a:r>
            <a:endParaRPr lang="en-US" sz="2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04AB551-403E-9EC4-389E-197A066C242E}"/>
              </a:ext>
            </a:extLst>
          </p:cNvPr>
          <p:cNvSpPr/>
          <p:nvPr/>
        </p:nvSpPr>
        <p:spPr>
          <a:xfrm>
            <a:off x="496119" y="1091059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 err="1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Situação</a:t>
            </a: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do </a:t>
            </a:r>
            <a:r>
              <a:rPr lang="en-US" sz="950" dirty="0" err="1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sistema</a:t>
            </a: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</a:t>
            </a:r>
            <a:r>
              <a:rPr lang="en-US" sz="950" dirty="0" err="1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após</a:t>
            </a: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as </a:t>
            </a:r>
            <a:r>
              <a:rPr lang="en-US" sz="950" dirty="0" err="1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correções</a:t>
            </a: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</a:t>
            </a:r>
            <a:endParaRPr lang="en-US" sz="95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FAF66B3-87FE-299A-08B6-21B73FE24271}"/>
              </a:ext>
            </a:extLst>
          </p:cNvPr>
          <p:cNvSpPr/>
          <p:nvPr/>
        </p:nvSpPr>
        <p:spPr>
          <a:xfrm>
            <a:off x="496119" y="1429048"/>
            <a:ext cx="8151763" cy="3258964"/>
          </a:xfrm>
          <a:prstGeom prst="roundRect">
            <a:avLst>
              <a:gd name="adj" fmla="val 1599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7" name="Imagem 36">
            <a:extLst>
              <a:ext uri="{FF2B5EF4-FFF2-40B4-BE49-F238E27FC236}">
                <a16:creationId xmlns:a16="http://schemas.microsoft.com/office/drawing/2014/main" id="{5CD78B4D-726F-FD4C-9AE5-F4EBF73222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837" y="1366155"/>
            <a:ext cx="8608963" cy="3612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9411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90761"/>
            <a:ext cx="4932238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Conclusão e Lições Aprendidas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1831" y="1726332"/>
            <a:ext cx="2648843" cy="23263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77242" y="1864593"/>
            <a:ext cx="2315170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Foco na Disciplina, não na Complexidade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77242" y="2326704"/>
            <a:ext cx="2315170" cy="11907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 sistema desenvolvido é simples e de uso acadêmico, mas as </a:t>
            </a:r>
            <a:r>
              <a:rPr lang="en-US" sz="9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técnicas aplicadas são padrão da indústria</a:t>
            </a: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 A pirâmide de testes — Unidade, Integração e E2E — foi construída com rigor metodológico.</a:t>
            </a:r>
            <a:endParaRPr lang="en-US" sz="9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40360" y="1726332"/>
            <a:ext cx="2648917" cy="23263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35772" y="1864593"/>
            <a:ext cx="2315245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Cobertura de Linhas pode ser Ilusória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3435772" y="2326704"/>
            <a:ext cx="2315245" cy="1389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Aprendemos na prática que uma alta cobertura do JaCoCo é enganosa se as asserções forem fracas. A </a:t>
            </a:r>
            <a:r>
              <a:rPr lang="en-US" sz="9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injeção de defeitos (Mutação com PIT)</a:t>
            </a: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foi o único mecanismo capaz de revelar testes que passavam sem realmente validar o comportamento esperado.</a:t>
            </a:r>
            <a:endParaRPr lang="en-US" sz="9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98964" y="1726332"/>
            <a:ext cx="2648843" cy="23263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194375" y="1864593"/>
            <a:ext cx="2315170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O Valor da Combinação Mocks + Banco Real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6194375" y="2326704"/>
            <a:ext cx="2315170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 uso combinado de </a:t>
            </a:r>
            <a:r>
              <a:rPr lang="en-US" sz="9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Mocks</a:t>
            </a: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(para validar lógica isolada) e </a:t>
            </a:r>
            <a:r>
              <a:rPr lang="en-US" sz="9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Bancos de Dados Reais</a:t>
            </a: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(para testar transações e rollbacks) provou ser a forma mais segura de atestar a qualidade estrutural de um software, cobrindo o que nenhuma das abordagens isoladamente consegue.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442</TotalTime>
  <Words>1323</Words>
  <Application>Microsoft Office PowerPoint</Application>
  <PresentationFormat>Apresentação na tela (16:9)</PresentationFormat>
  <Paragraphs>157</Paragraphs>
  <Slides>16</Slides>
  <Notes>15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1" baseType="lpstr">
      <vt:lpstr>Corben</vt:lpstr>
      <vt:lpstr>Arial</vt:lpstr>
      <vt:lpstr>Consolas</vt:lpstr>
      <vt:lpstr>Nobile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Erivelton Souza Campos</dc:creator>
  <cp:lastModifiedBy>Erivelton De Souza Campos</cp:lastModifiedBy>
  <cp:revision>6</cp:revision>
  <dcterms:created xsi:type="dcterms:W3CDTF">2026-06-18T21:45:02Z</dcterms:created>
  <dcterms:modified xsi:type="dcterms:W3CDTF">2026-06-24T01:25:26Z</dcterms:modified>
</cp:coreProperties>
</file>